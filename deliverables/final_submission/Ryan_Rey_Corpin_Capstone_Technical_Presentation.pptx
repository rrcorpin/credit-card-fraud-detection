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PR-AUC</c:v>
          </c:tx>
          <c:spPr>
            <a:solidFill>
              <a:srgbClr val="2F6B9A"/>
            </a:solidFill>
          </c:spPr>
          <c:invertIfNegative val="1"/>
          <c:dPt>
            <c:idx val="5"/>
            <c:invertIfNegative val="0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1-2163-B54F-B5C2-D33777E019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82A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Dummy prior</c:v>
                </c:pt>
                <c:pt idx="1">
                  <c:v>Logistic regression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Boosting conservative</c:v>
                </c:pt>
                <c:pt idx="5">
                  <c:v>Boosting flexible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5.8999999999999999E-3</c:v>
                </c:pt>
                <c:pt idx="1">
                  <c:v>0.35199999999999998</c:v>
                </c:pt>
                <c:pt idx="2">
                  <c:v>0.80079999999999996</c:v>
                </c:pt>
                <c:pt idx="3">
                  <c:v>0.83379999999999999</c:v>
                </c:pt>
                <c:pt idx="4">
                  <c:v>0.87929999999999997</c:v>
                </c:pt>
                <c:pt idx="5">
                  <c:v>0.89139999999999997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163-B54F-B5C2-D33777E019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8E2E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Precision</c:v>
          </c:tx>
          <c:spPr>
            <a:solidFill>
              <a:srgbClr val="2F6B9A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0.5%</c:v>
                </c:pt>
                <c:pt idx="1">
                  <c:v>1.0%</c:v>
                </c:pt>
                <c:pt idx="2">
                  <c:v>2.0%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0.65669999999999995</c:v>
                </c:pt>
                <c:pt idx="1">
                  <c:v>0.35709999999999997</c:v>
                </c:pt>
                <c:pt idx="2">
                  <c:v>0.18479999999999999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5C4-114F-962B-79869E235AAA}"/>
            </c:ext>
          </c:extLst>
        </c:ser>
        <c:ser>
          <c:idx val="1"/>
          <c:order val="1"/>
          <c:tx>
            <c:v>Fraud recall</c:v>
          </c:tx>
          <c:spPr>
            <a:solidFill>
              <a:srgbClr val="E76F51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0.5%</c:v>
                </c:pt>
                <c:pt idx="1">
                  <c:v>1.0%</c:v>
                </c:pt>
                <c:pt idx="2">
                  <c:v>2.0%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0.8508</c:v>
                </c:pt>
                <c:pt idx="1">
                  <c:v>0.9254</c:v>
                </c:pt>
                <c:pt idx="2">
                  <c:v>0.95760000000000001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5C4-114F-962B-79869E235AAA}"/>
            </c:ext>
          </c:extLst>
        </c:ser>
        <c:ser>
          <c:idx val="2"/>
          <c:order val="2"/>
          <c:tx>
            <c:v>Fraud-value recall</c:v>
          </c:tx>
          <c:spPr>
            <a:solidFill>
              <a:srgbClr val="2A9D8F"/>
            </a:solidFill>
          </c:spPr>
          <c:invertIfNegative val="1"/>
          <c:cat>
            <c:strRef>
              <c:f>'Chart Data'!$E$2:$E$4</c:f>
              <c:strCache>
                <c:ptCount val="3"/>
                <c:pt idx="0">
                  <c:v>0.5%</c:v>
                </c:pt>
                <c:pt idx="1">
                  <c:v>1.0%</c:v>
                </c:pt>
                <c:pt idx="2">
                  <c:v>2.0%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0.95779999999999998</c:v>
                </c:pt>
                <c:pt idx="1">
                  <c:v>0.98609999999999998</c:v>
                </c:pt>
                <c:pt idx="2">
                  <c:v>0.99270000000000003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5C4-114F-962B-79869E235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PH">
                    <a:latin typeface="Helvetica Neue"/>
                    <a:ea typeface="Helvetica Neue"/>
                    <a:cs typeface="Helvetica Neue"/>
                  </a:rPr>
                  <a:t>Review capacity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8E2EA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182A3A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Validation TPR</c:v>
          </c:tx>
          <c:spPr>
            <a:solidFill>
              <a:srgbClr val="E9C46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82A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0.87309999999999999</c:v>
                </c:pt>
                <c:pt idx="1">
                  <c:v>0.95960000000000001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E98-7340-8DF0-B45111C56498}"/>
            </c:ext>
          </c:extLst>
        </c:ser>
        <c:ser>
          <c:idx val="1"/>
          <c:order val="1"/>
          <c:tx>
            <c:v>Final test TPR</c:v>
          </c:tx>
          <c:spPr>
            <a:solidFill>
              <a:srgbClr val="E76F5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82A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0.89259999999999995</c:v>
                </c:pt>
                <c:pt idx="1">
                  <c:v>0.96430000000000005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E98-7340-8DF0-B45111C564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.75"/>
        </c:scaling>
        <c:delete val="0"/>
        <c:axPos val="l"/>
        <c:majorGridlines>
          <c:spPr>
            <a:ln w="9525">
              <a:solidFill>
                <a:srgbClr val="D8E2EA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182A3A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local capstone repository. Final test metrics: deliverables/04_model_implementation/final_test/final_test_summary.json.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deliverables/01_problem_framing/problem_framing.md.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source: https://www.kaggle.com/datasets/kartik2112/fraud-detection. Profile: deliverables/02_data_understanding/data_understanding.md.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images: deliverables/03_preprocessing_eda_features/figures/05_day_hour_fraud_heatmap.png and 04_category_fraud_rate.png.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deliverables/03_preprocessing_eda_features/eda_feature_engineering_report.md and feature_manifest.json.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configs/step4_models.json, configs/step4_enhancements.json and enhancements/reviewer_response.md.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deliverables/04_model_implementation/tables/model_comparison.csv. Flexible histogram boosting PR-AUC 0.891410.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deliverables/04_model_implementation/final_test/final_test_summary.json and final_test_capacity_metrics.csv.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image: deliverables/05_explainability_ethics_fairness/figures/01_shap_summary.png. Source table: shap_global_importance.csv.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source: deliverables/05_explainability_ethics_fairness/audit_summary.json. Test source: deliverables/04_model_implementation/final_test/tables/final_test_gender_metrics.csv.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deliverables/05_explainability_ethics_fairness/bias_fairness_analysis.md and final_test_report.md.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sources: final_test_report.md, bias_fairness_analysis.md, and repository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EFA892A-FCB2-4BE9-BFA8-BEA5737AF413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238250" cy="7620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D281B-58B9-4892-9FF5-12FFA0E3A0F0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85725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Explainable and Fair Credit Card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Fraud Detection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EDCF1-ECAB-4ACA-B09E-BD007935A48E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E9C4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C46A"/>
                </a:solidFill>
                <a:latin typeface="Helvetica Neue"/>
                <a:ea typeface="Helvetica Neue"/>
                <a:cs typeface="Helvetica Neue"/>
              </a:rPr>
              <a:t>Technical presentation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43CA9-7322-4FC0-AAE6-0A12247D219A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Ryan Rey Corpin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3D825-BFC1-4AAE-AAA8-E43E1A0DB6BD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C9D8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9D8E5"/>
                </a:solidFill>
                <a:latin typeface="Helvetica Neue"/>
                <a:ea typeface="Helvetica Neue"/>
                <a:cs typeface="Helvetica Neue"/>
              </a:rPr>
              <a:t>Postgraduate Diploma in Artificial Intelligence and Machine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B67C1E-D304-4C76-A5B6-8C78FAA76A16}"/>
              </a:ext>
            </a:extLst>
          </p:cNvPr>
          <p:cNvSpPr>
            <a:spLocks noGrp="1"/>
          </p:cNvSpPr>
          <p:nvPr/>
        </p:nvSpPr>
        <p:spPr>
          <a:xfrm>
            <a:off x="723900" y="58864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AFC3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FC3D4"/>
                </a:solidFill>
                <a:latin typeface="Helvetica Neue"/>
                <a:ea typeface="Helvetica Neue"/>
                <a:cs typeface="Helvetica Neue"/>
              </a:rPr>
              <a:t>October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16A47B-446D-49BA-BCAC-0A9E76631E45}"/>
              </a:ext>
            </a:extLst>
          </p:cNvPr>
          <p:cNvSpPr>
            <a:spLocks noGrp="1"/>
          </p:cNvSpPr>
          <p:nvPr/>
        </p:nvSpPr>
        <p:spPr>
          <a:xfrm>
            <a:off x="9525000" y="1666875"/>
            <a:ext cx="1809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37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1.85M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D2368-878A-4178-876F-E86A8AF8D608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A2E23-1AF9-414D-B6E5-2BC9797A7100}"/>
              </a:ext>
            </a:extLst>
          </p:cNvPr>
          <p:cNvSpPr>
            <a:spLocks noGrp="1"/>
          </p:cNvSpPr>
          <p:nvPr/>
        </p:nvSpPr>
        <p:spPr>
          <a:xfrm>
            <a:off x="9525000" y="3143250"/>
            <a:ext cx="1809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375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rPr>
              <a:t>0.858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80A597-40E8-4EB7-94A7-4691924343AD}"/>
              </a:ext>
            </a:extLst>
          </p:cNvPr>
          <p:cNvSpPr>
            <a:spLocks noGrp="1"/>
          </p:cNvSpPr>
          <p:nvPr/>
        </p:nvSpPr>
        <p:spPr>
          <a:xfrm>
            <a:off x="9144000" y="37909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 test PR-AUC</a:t>
            </a:r>
          </a:p>
        </p:txBody>
      </p:sp>
    </p:spTree>
    <p:extLst>
      <p:ext uri="{BB962C8B-B14F-4D97-AF65-F5344CB8AC3E}">
        <p14:creationId xmlns:p14="http://schemas.microsoft.com/office/powerpoint/2010/main" val="44799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CEA780-98DF-499E-AC1E-2046B8D04859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Fraud triage under severe class imbalance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2CD9C2-11CA-4A86-A6F7-84B340CB5D2B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AB8DFC-1545-408F-9548-1C9DE384E43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Business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C42F4-151A-4033-A1E0-177632EBFA5D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191000" cy="1476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Which transactions should enter a limited review queue so that fraud capture rises without imposing excessive customer friction?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3A82BD-8E59-4BF9-A185-D68A253B33A7}"/>
              </a:ext>
            </a:extLst>
          </p:cNvPr>
          <p:cNvSpPr>
            <a:spLocks noGrp="1"/>
          </p:cNvSpPr>
          <p:nvPr/>
        </p:nvSpPr>
        <p:spPr>
          <a:xfrm>
            <a:off x="5572125" y="1428750"/>
            <a:ext cx="5810250" cy="3333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3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Binary transaction classification with a ranked risk score</a:t>
            </a:r>
          </a:p>
          <a:p>
            <a:pPr marL="241300" indent="-114300">
              <a:spcAft>
                <a:spcPts val="13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Primary metric: average precision because fraud represents about 0.5% of records</a:t>
            </a:r>
          </a:p>
          <a:p>
            <a:pPr marL="241300" indent="-114300">
              <a:spcAft>
                <a:spcPts val="13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Operational measures: recall, precision, fraud-value capture and false-positive burden</a:t>
            </a:r>
          </a:p>
          <a:p>
            <a:pPr marL="241300" indent="-114300">
              <a:spcAft>
                <a:spcPts val="13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Fairness measures: protection and service quality across available demographic groups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528CA-3AF8-4F9C-A7AD-20499A0A29AF}"/>
              </a:ext>
            </a:extLst>
          </p:cNvPr>
          <p:cNvSpPr>
            <a:spLocks noGrp="1"/>
          </p:cNvSpPr>
          <p:nvPr/>
        </p:nvSpPr>
        <p:spPr>
          <a:xfrm>
            <a:off x="5667375" y="4953000"/>
            <a:ext cx="1666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5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D2A897-2F0A-4BA4-80E1-7B5C510F2C56}"/>
              </a:ext>
            </a:extLst>
          </p:cNvPr>
          <p:cNvSpPr>
            <a:spLocks noGrp="1"/>
          </p:cNvSpPr>
          <p:nvPr/>
        </p:nvSpPr>
        <p:spPr>
          <a:xfrm>
            <a:off x="5667375" y="5673357"/>
            <a:ext cx="16668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model selection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CB2CD-DC32-4DD1-B40E-170D7FEEFCD0}"/>
              </a:ext>
            </a:extLst>
          </p:cNvPr>
          <p:cNvSpPr>
            <a:spLocks noGrp="1"/>
          </p:cNvSpPr>
          <p:nvPr/>
        </p:nvSpPr>
        <p:spPr>
          <a:xfrm>
            <a:off x="7667625" y="4953000"/>
            <a:ext cx="1666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2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dirty="0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Assumed 1%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C8B671-5C9D-4E20-995B-6556DD01B2A3}"/>
              </a:ext>
            </a:extLst>
          </p:cNvPr>
          <p:cNvSpPr>
            <a:spLocks noGrp="1"/>
          </p:cNvSpPr>
          <p:nvPr/>
        </p:nvSpPr>
        <p:spPr>
          <a:xfrm>
            <a:off x="7667625" y="5673357"/>
            <a:ext cx="16668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analyst capacity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84004A-DB42-4BA8-89E4-45BEF8D0A0BF}"/>
              </a:ext>
            </a:extLst>
          </p:cNvPr>
          <p:cNvSpPr>
            <a:spLocks noGrp="1"/>
          </p:cNvSpPr>
          <p:nvPr/>
        </p:nvSpPr>
        <p:spPr>
          <a:xfrm>
            <a:off x="9667875" y="4953000"/>
            <a:ext cx="1666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5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Temporal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AF07E4-BC1D-4131-B452-6D119BFA058B}"/>
              </a:ext>
            </a:extLst>
          </p:cNvPr>
          <p:cNvSpPr>
            <a:spLocks noGrp="1"/>
          </p:cNvSpPr>
          <p:nvPr/>
        </p:nvSpPr>
        <p:spPr>
          <a:xfrm>
            <a:off x="9667875" y="5673357"/>
            <a:ext cx="16668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evaluation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C436F4-C8C8-433B-B0B5-AFD6CA741F73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5FA3A5-99DC-455A-888B-51485380BC32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Problem framing and success criteria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DBA171-23B6-457E-BEED-B2336A7513F6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441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0223BFB-C58B-4E5E-93D3-B9CE060EEB17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Dataset and temporal evaluation protocol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C02A0-6D3B-49D0-B766-C6CB7F1C4C35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5832CA-719D-4FE8-A75C-1208601ACA52}"/>
              </a:ext>
            </a:extLst>
          </p:cNvPr>
          <p:cNvSpPr>
            <a:spLocks noGrp="1"/>
          </p:cNvSpPr>
          <p:nvPr/>
        </p:nvSpPr>
        <p:spPr>
          <a:xfrm>
            <a:off x="1085850" y="1576388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dirty="0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1,852,394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0CBAEA-F062-4EC5-8A8F-164C853BED55}"/>
              </a:ext>
            </a:extLst>
          </p:cNvPr>
          <p:cNvSpPr>
            <a:spLocks noGrp="1"/>
          </p:cNvSpPr>
          <p:nvPr/>
        </p:nvSpPr>
        <p:spPr>
          <a:xfrm>
            <a:off x="1085850" y="2147888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transactions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D0F570-6B10-40A5-8B8C-4E8A2D1CAB34}"/>
              </a:ext>
            </a:extLst>
          </p:cNvPr>
          <p:cNvSpPr>
            <a:spLocks noGrp="1"/>
          </p:cNvSpPr>
          <p:nvPr/>
        </p:nvSpPr>
        <p:spPr>
          <a:xfrm>
            <a:off x="4038600" y="1576388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9,651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5F3FB-7BEE-423E-A6A4-CD452F3714E6}"/>
              </a:ext>
            </a:extLst>
          </p:cNvPr>
          <p:cNvSpPr>
            <a:spLocks noGrp="1"/>
          </p:cNvSpPr>
          <p:nvPr/>
        </p:nvSpPr>
        <p:spPr>
          <a:xfrm>
            <a:off x="4038600" y="2147888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cases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A48FEF-98E7-4BCB-B9DB-34EEBE6E207F}"/>
              </a:ext>
            </a:extLst>
          </p:cNvPr>
          <p:cNvSpPr>
            <a:spLocks noGrp="1"/>
          </p:cNvSpPr>
          <p:nvPr/>
        </p:nvSpPr>
        <p:spPr>
          <a:xfrm>
            <a:off x="6419850" y="1576388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0.521%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C012E-E3A7-404B-988F-CFB519F4899F}"/>
              </a:ext>
            </a:extLst>
          </p:cNvPr>
          <p:cNvSpPr>
            <a:spLocks noGrp="1"/>
          </p:cNvSpPr>
          <p:nvPr/>
        </p:nvSpPr>
        <p:spPr>
          <a:xfrm>
            <a:off x="6419850" y="2147888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overall prevalence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56E9B-0E4C-4D72-9489-6C7167454BEF}"/>
              </a:ext>
            </a:extLst>
          </p:cNvPr>
          <p:cNvSpPr>
            <a:spLocks noGrp="1"/>
          </p:cNvSpPr>
          <p:nvPr/>
        </p:nvSpPr>
        <p:spPr>
          <a:xfrm>
            <a:off x="8991600" y="1576388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583500-EF84-495C-9B09-43953314E088}"/>
              </a:ext>
            </a:extLst>
          </p:cNvPr>
          <p:cNvSpPr>
            <a:spLocks noGrp="1"/>
          </p:cNvSpPr>
          <p:nvPr/>
        </p:nvSpPr>
        <p:spPr>
          <a:xfrm>
            <a:off x="8991600" y="2147888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raw 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18ADF1-B165-4DD8-9A1C-17A730B77036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382250" cy="2857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F7F66A-DC61-4267-A6E5-A6CD4B86BEEB}"/>
              </a:ext>
            </a:extLst>
          </p:cNvPr>
          <p:cNvSpPr>
            <a:spLocks noGrp="1"/>
          </p:cNvSpPr>
          <p:nvPr/>
        </p:nvSpPr>
        <p:spPr>
          <a:xfrm>
            <a:off x="904875" y="3490913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463B2-FB1D-4AB0-B283-BECAAA5A86C7}"/>
              </a:ext>
            </a:extLst>
          </p:cNvPr>
          <p:cNvSpPr>
            <a:spLocks noGrp="1"/>
          </p:cNvSpPr>
          <p:nvPr/>
        </p:nvSpPr>
        <p:spPr>
          <a:xfrm>
            <a:off x="904875" y="3967163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1,037,340 rows</a:t>
            </a:r>
          </a:p>
          <a:p>
            <a:pPr algn="ctr">
              <a:def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Jan 2019 to Mar 2020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5B061F-06B7-4569-AB57-5C8A2BBFD91D}"/>
              </a:ext>
            </a:extLst>
          </p:cNvPr>
          <p:cNvSpPr>
            <a:spLocks noGrp="1"/>
          </p:cNvSpPr>
          <p:nvPr/>
        </p:nvSpPr>
        <p:spPr>
          <a:xfrm>
            <a:off x="4648200" y="3490913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E60F74-9E80-4F90-A211-8D7470019E5E}"/>
              </a:ext>
            </a:extLst>
          </p:cNvPr>
          <p:cNvSpPr>
            <a:spLocks noGrp="1"/>
          </p:cNvSpPr>
          <p:nvPr/>
        </p:nvSpPr>
        <p:spPr>
          <a:xfrm>
            <a:off x="4648200" y="3967163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259,335 rows</a:t>
            </a:r>
          </a:p>
          <a:p>
            <a:pPr algn="ctr">
              <a:def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Mar to Jun 2020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C75910-5951-4774-83D8-FCEB2C078823}"/>
              </a:ext>
            </a:extLst>
          </p:cNvPr>
          <p:cNvSpPr>
            <a:spLocks noGrp="1"/>
          </p:cNvSpPr>
          <p:nvPr/>
        </p:nvSpPr>
        <p:spPr>
          <a:xfrm>
            <a:off x="8391525" y="3490913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Final test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CDDC49-E973-4262-913A-7A569C69E880}"/>
              </a:ext>
            </a:extLst>
          </p:cNvPr>
          <p:cNvSpPr>
            <a:spLocks noGrp="1"/>
          </p:cNvSpPr>
          <p:nvPr/>
        </p:nvSpPr>
        <p:spPr>
          <a:xfrm>
            <a:off x="8391525" y="3967163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555,719 rows</a:t>
            </a:r>
          </a:p>
          <a:p>
            <a:pPr algn="ctr">
              <a:def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Jun to Dec 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FC05AE-440C-4F80-88A2-BE48940AE741}"/>
              </a:ext>
            </a:extLst>
          </p:cNvPr>
          <p:cNvSpPr>
            <a:spLocks noGrp="1"/>
          </p:cNvSpPr>
          <p:nvPr/>
        </p:nvSpPr>
        <p:spPr>
          <a:xfrm>
            <a:off x="1428750" y="51911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Synthetic Sparkov data supports reproducible benchmarking. It cannot establish production performance at a real institution.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992815-1E5D-4A6D-9D0A-7F08E3686B8A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0BFDF2-4581-486D-86C0-DC5FB2BF5DF2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Sparkov dataset · chronological splits prevent future information from guiding model choice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D2663C-0CA2-4461-8795-A8C5D1EC0722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537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3E5F2D-C4B7-4C8E-A148-93E33C56EA05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Applied EDA reveals temporal and category concentration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F7D8E2-3B11-41D8-B5CC-D185327C303E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841368"/>
            <a:ext cx="5476875" cy="24132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1367205"/>
            <a:ext cx="5476875" cy="33615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C40301-FB03-48F2-A394-68B55CB2B146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Fraud concentrates around 22:00–03:00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F099B9-2571-4D59-A011-241F2242DE97}"/>
              </a:ext>
            </a:extLst>
          </p:cNvPr>
          <p:cNvSpPr>
            <a:spLocks noGrp="1"/>
          </p:cNvSpPr>
          <p:nvPr/>
        </p:nvSpPr>
        <p:spPr>
          <a:xfrm>
            <a:off x="6334125" y="50958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shopping_net leads observed category fraud rate at 1.76%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94680-8E77-4F6A-8C9E-542F673DD1E2}"/>
              </a:ext>
            </a:extLst>
          </p:cNvPr>
          <p:cNvSpPr>
            <a:spLocks noGrp="1"/>
          </p:cNvSpPr>
          <p:nvPr/>
        </p:nvSpPr>
        <p:spPr>
          <a:xfrm>
            <a:off x="1333500" y="56388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Descriptive associations guide features; they do not establish causal fraud drivers.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74532-A6EA-4434-ABEA-8983035446F4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FF1EC-3AE3-4C26-83DE-E00F76D9B2FF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Development-period EDA · time and merchant category provide strong operational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D2F33-D74B-4C58-A26E-3769A3C52968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437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DAF71E-FCF0-4994-BF52-4BF49F0016EA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Feature engineering and leakage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4240F5-B165-43FA-9A21-BA2B888B5447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85691-0E8A-4459-8C47-4F3EBE53FF5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Signal added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22DD69-364D-46BD-A00D-B6EA61967FA5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457200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Cyclical hour and weekday features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Amount, population and behavioral log transforms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Customer-to-merchant distance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Prior transaction count, timing and amount behavior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Merchant, city, ZIP and occupation frequency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F7F95-DF67-4021-ACD0-CF494BC64CD3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Controls applied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3110C-4739-4CA5-A83B-8F9392A65D17}"/>
              </a:ext>
            </a:extLst>
          </p:cNvPr>
          <p:cNvSpPr>
            <a:spLocks noGrp="1"/>
          </p:cNvSpPr>
          <p:nvPr/>
        </p:nvSpPr>
        <p:spPr>
          <a:xfrm>
            <a:off x="6286500" y="1857375"/>
            <a:ext cx="495300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History uses strictly earlier timestamps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Equal timestamps never enter one another's history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Names, street, transaction ID and card number excluded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Gender and age reserved for auditing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Preprocessing fitted on development data 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72060-7A0A-4C64-A8D0-793D9EDCCC82}"/>
              </a:ext>
            </a:extLst>
          </p:cNvPr>
          <p:cNvSpPr>
            <a:spLocks noGrp="1"/>
          </p:cNvSpPr>
          <p:nvPr/>
        </p:nvSpPr>
        <p:spPr>
          <a:xfrm>
            <a:off x="857250" y="5095875"/>
            <a:ext cx="3714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Post-review outer validation</a:t>
            </a:r>
          </a:p>
          <a:p>
            <a:pPr algn="ctr">
              <a:defRPr sz="1575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98 features · PR-AUC 0.9166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48544F-9477-4B4B-B8BB-59C07ACC7D55}"/>
              </a:ext>
            </a:extLst>
          </p:cNvPr>
          <p:cNvSpPr>
            <a:spLocks noGrp="1"/>
          </p:cNvSpPr>
          <p:nvPr/>
        </p:nvSpPr>
        <p:spPr>
          <a:xfrm>
            <a:off x="4333875" y="5095875"/>
            <a:ext cx="3905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Post-review outer validation</a:t>
            </a:r>
          </a:p>
          <a:p>
            <a:pPr algn="ctr">
              <a:defRPr sz="15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retuned 25 features · PR-AUC 0.8906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867FD1-DB63-43DB-BE44-F9814C021335}"/>
              </a:ext>
            </a:extLst>
          </p:cNvPr>
          <p:cNvSpPr>
            <a:spLocks noGrp="1"/>
          </p:cNvSpPr>
          <p:nvPr/>
        </p:nvSpPr>
        <p:spPr>
          <a:xfrm>
            <a:off x="8239125" y="5219700"/>
            <a:ext cx="3143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PCA rejected: weak compression and separation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0D287C-A5E0-4DC8-8A04-9E11F4D8649F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F43F2-1F34-4BDE-93F4-483EF5930AA2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Reproducible preprocessing and feature selection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1D4C5-E3E7-4D9C-BA6C-DFE4E4C49806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0440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61A100C-788F-4D70-BF9C-754522231344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Model experiment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A4012-6FE0-412E-9B3C-0217BED65247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DA927-F043-4452-AAC5-866D9F2649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Eight controlled experiments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75C6F-5F92-415B-8558-F4465D49A564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5334000" cy="3476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Dummy prior establishes the no-skill benchmark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Two regularized logistic regressions provide interpretable baselines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Two pruned decision trees test nonlinear thresholds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Random forest tests bagged interactions</a:t>
            </a:r>
          </a:p>
          <a:p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Two histogram boosting variants test stronger nonlinear capacity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106A7-02E6-4C73-8BB9-4AAE8B73ECD2}"/>
              </a:ext>
            </a:extLst>
          </p:cNvPr>
          <p:cNvSpPr>
            <a:spLocks noGrp="1"/>
          </p:cNvSpPr>
          <p:nvPr/>
        </p:nvSpPr>
        <p:spPr>
          <a:xfrm>
            <a:off x="7000875" y="14287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Selection and tuning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02020-7B78-43B1-A8FF-35FE0A89BA21}"/>
              </a:ext>
            </a:extLst>
          </p:cNvPr>
          <p:cNvSpPr>
            <a:spLocks noGrp="1"/>
          </p:cNvSpPr>
          <p:nvPr/>
        </p:nvSpPr>
        <p:spPr>
          <a:xfrm>
            <a:off x="7000875" y="1952625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Highest PR-AUC; top families tuned on an earlier chronological inner split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B8FF1-A849-440F-A9DA-C9E4357AB00C}"/>
              </a:ext>
            </a:extLst>
          </p:cNvPr>
          <p:cNvSpPr>
            <a:spLocks noGrp="1"/>
          </p:cNvSpPr>
          <p:nvPr/>
        </p:nvSpPr>
        <p:spPr>
          <a:xfrm>
            <a:off x="7000875" y="32385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Class imbalance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B45C24-1598-41A8-AF2F-462C6AA34C40}"/>
              </a:ext>
            </a:extLst>
          </p:cNvPr>
          <p:cNvSpPr>
            <a:spLocks noGrp="1"/>
          </p:cNvSpPr>
          <p:nvPr/>
        </p:nvSpPr>
        <p:spPr>
          <a:xfrm>
            <a:off x="7000875" y="3638550"/>
            <a:ext cx="409575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Balanced class weights during fitting. Validation prevalence remains unchanged.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51C3E-E203-4DF5-8BAC-E024C23B39DB}"/>
              </a:ext>
            </a:extLst>
          </p:cNvPr>
          <p:cNvSpPr>
            <a:spLocks noGrp="1"/>
          </p:cNvSpPr>
          <p:nvPr/>
        </p:nvSpPr>
        <p:spPr>
          <a:xfrm>
            <a:off x="7000875" y="48101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Reproducibility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BF8A28-5DE7-4BCD-B05B-DCBF249D2066}"/>
              </a:ext>
            </a:extLst>
          </p:cNvPr>
          <p:cNvSpPr>
            <a:spLocks noGrp="1"/>
          </p:cNvSpPr>
          <p:nvPr/>
        </p:nvSpPr>
        <p:spPr>
          <a:xfrm>
            <a:off x="7000875" y="5210175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Seed 42, versioned JSON configs, serialized models, automated tests; random early stopping removed in the enhancement.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5B070-50AC-489F-877C-D28EBDBD93F3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D5F91-EA21-4577-AE13-948B0C9EEF78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Candidate families, tuning scope and selection rule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5ECB7-1636-4AF5-BBC2-39BD08B19DD0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378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A5888B-87BC-4373-966E-B1038BB5E2E2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Original Step 4 comparison: 25-feature HGB leads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8AC304-C27A-4E65-A748-6E82902FBE4A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Chart"/>
          <p:cNvGraphicFramePr/>
          <p:nvPr/>
        </p:nvGraphicFramePr>
        <p:xfrm>
          <a:off x="952500" y="1428750"/>
          <a:ext cx="9906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31D8B4-E687-4B65-9B60-C24520605B94}"/>
              </a:ext>
            </a:extLst>
          </p:cNvPr>
          <p:cNvSpPr>
            <a:spLocks noGrp="1"/>
          </p:cNvSpPr>
          <p:nvPr/>
        </p:nvSpPr>
        <p:spPr>
          <a:xfrm>
            <a:off x="9334500" y="55245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Selected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C09662-6425-4F96-854A-189B30003B87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D99E8-B0F3-48E7-87F0-9C84ECDF79A1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Original Step 4 protocol · 25-feature branch · flexible HGB PR-AUC 0.8914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2D6FB-058E-4FE4-9C90-7234378EFA59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746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CD46A0-0BA6-4934-8970-A812B63D4245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Final test performance remains strong under temporal shift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10DA6-AE92-4A08-A877-16AD940A710B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Chart"/>
          <p:cNvGraphicFramePr/>
          <p:nvPr/>
        </p:nvGraphicFramePr>
        <p:xfrm>
          <a:off x="685800" y="1476375"/>
          <a:ext cx="723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057671E-E628-490F-A501-1EDF059F98E0}"/>
              </a:ext>
            </a:extLst>
          </p:cNvPr>
          <p:cNvSpPr>
            <a:spLocks noGrp="1"/>
          </p:cNvSpPr>
          <p:nvPr/>
        </p:nvSpPr>
        <p:spPr>
          <a:xfrm>
            <a:off x="8477250" y="1524000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0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0.8584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AD7A4-E4C4-470A-A4FB-762101F33F6F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final test PR-AUC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158E4-21AB-4E90-86F5-65030BD120CC}"/>
              </a:ext>
            </a:extLst>
          </p:cNvPr>
          <p:cNvSpPr>
            <a:spLocks noGrp="1"/>
          </p:cNvSpPr>
          <p:nvPr/>
        </p:nvSpPr>
        <p:spPr>
          <a:xfrm>
            <a:off x="8477250" y="2762250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0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1,985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02963B-E94B-4F44-96CD-6AB46E3E4996}"/>
              </a:ext>
            </a:extLst>
          </p:cNvPr>
          <p:cNvSpPr>
            <a:spLocks noGrp="1"/>
          </p:cNvSpPr>
          <p:nvPr/>
        </p:nvSpPr>
        <p:spPr>
          <a:xfrm>
            <a:off x="8477250" y="333375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cases found at 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5E9C8D-2A63-4F7F-AEB1-1202D2777120}"/>
              </a:ext>
            </a:extLst>
          </p:cNvPr>
          <p:cNvSpPr>
            <a:spLocks noGrp="1"/>
          </p:cNvSpPr>
          <p:nvPr/>
        </p:nvSpPr>
        <p:spPr>
          <a:xfrm>
            <a:off x="8477250" y="4000500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0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$1.118M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9081DC-30E2-47DA-BDED-D1821602EFAF}"/>
              </a:ext>
            </a:extLst>
          </p:cNvPr>
          <p:cNvSpPr>
            <a:spLocks noGrp="1"/>
          </p:cNvSpPr>
          <p:nvPr/>
        </p:nvSpPr>
        <p:spPr>
          <a:xfrm>
            <a:off x="8477250" y="457200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value captured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25D04D-D956-4095-99BB-80D2BD4AAD4F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429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Test prevalence fell to 0.386%. Precision of 35.71% is 92.5% of the 38.6% theoretical ceiling at a 1% queue.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1DC020-D855-4810-936E-C368D99818B9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929DC-BECE-4325-B984-619858036839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Assumed 1% analyst capacity · cost sensitivity favours a smaller queue; frozen policy unchanged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92420-6E69-45E7-A110-CE6E376DF94F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4671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A6BE53-BA75-42D4-9794-EE0F4FCFFCCF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Amount, frequency and time dominate model explanations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FEC35E-B0B1-40E3-A31B-3CAA4240F70A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20466" y="1190625"/>
            <a:ext cx="5237319" cy="4857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E939E6-A989-4CF0-99CD-24BBCA4AF9FF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4048125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Transaction amount is the leading global contribution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Merchant and ZIP frequency capture recurring context and possible proxy risk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Time of day and prior card behavior create nonlinear interactions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A $607 legitimate transaction shows how high amount and timing can produce a false positive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Explanations describe model behavior. They do not establish causal fraud drivers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19C6E-C472-4E60-A082-F514D1EC784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3905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TreeSHAP sample: 1,500 fraud + 1,500 legitimate validation 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C67D21-7BD4-4CA7-AE67-36890351BC01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136F1E-DC64-4C87-B3CC-44AFDF3A253E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TreeSHAP, partial dependence, ICE and local explanations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A1D425-E445-4924-B4D3-D351C75B02DB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46398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25D000-47F5-4411-9A10-B60D9F9F76E0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final test confirms a gender protection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167E6-56B5-4368-A7AE-EEB3849D3A0B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762000" y="1428750"/>
          <a:ext cx="6858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069DCA0-DD7D-4AF4-A4B8-7FB2A9397686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0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7.17 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ED433-50A7-4F0D-9BA2-D7E1B56F0D8F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test TPR gap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C0C194-F29C-4D95-B0A3-22586C4CE09F}"/>
              </a:ext>
            </a:extLst>
          </p:cNvPr>
          <p:cNvSpPr>
            <a:spLocks noGrp="1"/>
          </p:cNvSpPr>
          <p:nvPr/>
        </p:nvSpPr>
        <p:spPr>
          <a:xfrm>
            <a:off x="8334375" y="276225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0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0.898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CF849-8DEA-4EC7-8E9B-66E4EFF81A19}"/>
              </a:ext>
            </a:extLst>
          </p:cNvPr>
          <p:cNvSpPr>
            <a:spLocks noGrp="1"/>
          </p:cNvSpPr>
          <p:nvPr/>
        </p:nvSpPr>
        <p:spPr>
          <a:xfrm>
            <a:off x="8334375" y="3333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test disparate-impact ratio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60251F-3A4A-4A51-BFAD-6889C0275693}"/>
              </a:ext>
            </a:extLst>
          </p:cNvPr>
          <p:cNvSpPr>
            <a:spLocks noGrp="1"/>
          </p:cNvSpPr>
          <p:nvPr/>
        </p:nvSpPr>
        <p:spPr>
          <a:xfrm>
            <a:off x="8143875" y="4143375"/>
            <a:ext cx="32385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Validation intersections span 69.00% to 97.32% recall. Race and socioeconomic status cannot be audited because the data lacks valid attributes.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C51B8D-E407-4250-9D05-E20EAD5B8F1C}"/>
              </a:ext>
            </a:extLst>
          </p:cNvPr>
          <p:cNvSpPr>
            <a:spLocks noGrp="1"/>
          </p:cNvSpPr>
          <p:nvPr/>
        </p:nvSpPr>
        <p:spPr>
          <a:xfrm>
            <a:off x="7905750" y="5429250"/>
            <a:ext cx="3714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Validation-derived cutoffs reduced the test TPR gap to 1.08 pp, but worsened parity and precision gaps. Mitigation rejected.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4C0479-4F5C-4CD9-8157-F8B1466F98AF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C500EE-02FF-4E21-BC55-BF667A352DB4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Gender and age excluded from model inputs but retained for auditing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4DB20-9CE5-4649-8342-EA006DF373CC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9528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FD5EEE-903E-421E-97A7-3D9C3CEB5636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Critical limitations and mitigation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DED9B-43BC-417D-8935-B9A7FA7A08A9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857250" cy="4762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15C8AC-D35D-4776-9DF7-4F11662439A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Model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60496-55BF-4DDD-B226-E39F3F58239A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476250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000"/>
              </a:spcAft>
              <a:buChar char="•"/>
              <a:def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PR-AUC declines from 0.8914 validation to 0.8584 final test</a:t>
            </a:r>
          </a:p>
          <a:p>
            <a:pPr marL="241300" indent="-114300">
              <a:spcAft>
                <a:spcPts val="1000"/>
              </a:spcAft>
              <a:buChar char="•"/>
              <a:def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Later-slice isotonic calibration cuts Brier loss 26%, but slightly reduces PR-AUC</a:t>
            </a:r>
          </a:p>
          <a:p>
            <a:pPr marL="241300" indent="-114300">
              <a:spcAft>
                <a:spcPts val="1000"/>
              </a:spcAft>
              <a:buChar char="•"/>
              <a:def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Full features win post-review; fresh out-of-time confirmation is still required</a:t>
            </a:r>
          </a:p>
          <a:p>
            <a:pPr marL="241300" indent="-114300">
              <a:spcAft>
                <a:spcPts val="1000"/>
              </a:spcAft>
              <a:buChar char="•"/>
              <a:def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Synthetic entities and patterns may overstate real generalization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A3220D-13CD-42FE-A512-BEEB5D48B8EE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Responsible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62B52-A9CA-4DAE-A62D-276D7F146EC2}"/>
              </a:ext>
            </a:extLst>
          </p:cNvPr>
          <p:cNvSpPr>
            <a:spLocks noGrp="1"/>
          </p:cNvSpPr>
          <p:nvPr/>
        </p:nvSpPr>
        <p:spPr>
          <a:xfrm>
            <a:off x="6286500" y="1857375"/>
            <a:ext cx="4953000" cy="2714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Gender recall disparity persists on final test</a:t>
            </a:r>
          </a:p>
          <a:p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Equal review rates do not fix unequal protection</a:t>
            </a:r>
          </a:p>
          <a:p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Equal-opportunity thresholds create new burden and precision gaps</a:t>
            </a:r>
          </a:p>
          <a:p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Missing race and socioeconomic attributes limit audit coverage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41BBF4-8B67-46DB-B410-4376FB558624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Recommended controls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CF27D0-3470-4C50-9237-DBF499F5495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Shadow mode, human review, score calibration, drift monitoring, subgroup alerts and rollback criteria before customer-facing action.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73189-A6D3-488D-BBFA-CCE36E56C013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89D980-5330-4016-86AB-C2683F477C96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Strong predictive performance does not establish production readiness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057542-53D3-4C1D-B94F-348AE8CCFBC6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1427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F1B37A7-2DBA-469E-85E5-483C7F7ACBCC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143000" cy="66675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340320-8D9C-40C9-A262-2A4E658E256A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C0D5A5-D205-409A-A7C0-60E82B142F5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7239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model is technically promising and operationally useful as a ranked review aid. The evidence supports a governed shadow pilot, not automated declines.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5D039-9D00-4A38-8E62-4EC234C24DCC}"/>
              </a:ext>
            </a:extLst>
          </p:cNvPr>
          <p:cNvSpPr>
            <a:spLocks noGrp="1"/>
          </p:cNvSpPr>
          <p:nvPr/>
        </p:nvSpPr>
        <p:spPr>
          <a:xfrm>
            <a:off x="7524750" y="2000250"/>
            <a:ext cx="40005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 performance and cost on real transactions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Calibrate scores on a later, separate period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Investigate subgroup errors and training-time mitigations</a:t>
            </a:r>
          </a:p>
          <a:p>
            <a:pPr marL="2413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Define monitoring, escalation and rollback gates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3FB96-4B8B-4DB2-B0BA-2CC15105B313}"/>
              </a:ext>
            </a:extLst>
          </p:cNvPr>
          <p:cNvSpPr>
            <a:spLocks noGrp="1"/>
          </p:cNvSpPr>
          <p:nvPr/>
        </p:nvSpPr>
        <p:spPr>
          <a:xfrm>
            <a:off x="857250" y="4810125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rPr>
              <a:t>0.8584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92EFF-44F1-4195-979B-74B3F477518F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final test PR-AUC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6E5BD-5B88-4730-B370-756680CEB135}"/>
              </a:ext>
            </a:extLst>
          </p:cNvPr>
          <p:cNvSpPr>
            <a:spLocks noGrp="1"/>
          </p:cNvSpPr>
          <p:nvPr/>
        </p:nvSpPr>
        <p:spPr>
          <a:xfrm>
            <a:off x="3714750" y="4810125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92.54%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94810-008F-4CD6-9140-0514F515CE6A}"/>
              </a:ext>
            </a:extLst>
          </p:cNvPr>
          <p:cNvSpPr>
            <a:spLocks noGrp="1"/>
          </p:cNvSpPr>
          <p:nvPr/>
        </p:nvSpPr>
        <p:spPr>
          <a:xfrm>
            <a:off x="3714750" y="53816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recall at 1%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725291-EC69-4E38-8DC6-FAC63AAADD82}"/>
              </a:ext>
            </a:extLst>
          </p:cNvPr>
          <p:cNvSpPr>
            <a:spLocks noGrp="1"/>
          </p:cNvSpPr>
          <p:nvPr/>
        </p:nvSpPr>
        <p:spPr>
          <a:xfrm>
            <a:off x="6572250" y="4810125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8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98.61%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766CE5-7C3B-40E2-A075-B2C2BB0AA504}"/>
              </a:ext>
            </a:extLst>
          </p:cNvPr>
          <p:cNvSpPr>
            <a:spLocks noGrp="1"/>
          </p:cNvSpPr>
          <p:nvPr/>
        </p:nvSpPr>
        <p:spPr>
          <a:xfrm>
            <a:off x="6572250" y="53816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fraud-value recall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5BD28A-FC4B-47CF-939F-DCEBE353F0C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rPr>
              <a:t>Reproducibility: configs, source, serialized models, generated artifacts and automated tests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AC328-7BC8-4BDB-AC5E-4D7983DE85CB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83873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Microsoft Macintosh PowerPoint</Application>
  <DocSecurity>0</DocSecurity>
  <PresentationFormat>Widescreen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Ryan Rey Corpin (AC Manila)</cp:lastModifiedBy>
  <cp:revision>1</cp:revision>
  <dcterms:created xsi:type="dcterms:W3CDTF">2026-10-06T12:21:04Z</dcterms:created>
  <dcterms:modified xsi:type="dcterms:W3CDTF">2026-10-06T12:36:09Z</dcterms:modified>
</cp:coreProperties>
</file>