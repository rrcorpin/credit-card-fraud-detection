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7a4d77f8f4657" /><Relationship Type="http://schemas.openxmlformats.org/officeDocument/2006/relationships/extended-properties" Target="/docProps/app.xml" Id="R3945a28b553f4f6e" /><Relationship Type="http://schemas.openxmlformats.org/officeDocument/2006/relationships/officeDocument" Target="/ppt/presentation.xml" Id="Rd0bdadaa39144a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19fdd9e3144432"/>
  </p:sldMasterIdLst>
  <p:notesMasterIdLst>
    <p:notesMasterId xmlns:r="http://schemas.openxmlformats.org/officeDocument/2006/relationships" r:id="R68551248280349ec"/>
  </p:notesMasterIdLst>
  <p:sldIdLst>
    <p:sldId xmlns:r="http://schemas.openxmlformats.org/officeDocument/2006/relationships" id="256" r:id="R04d493c3b98d4d73"/>
    <p:sldId xmlns:r="http://schemas.openxmlformats.org/officeDocument/2006/relationships" id="257" r:id="Ra79f7e05dec94f80"/>
    <p:sldId xmlns:r="http://schemas.openxmlformats.org/officeDocument/2006/relationships" id="258" r:id="R429a5c500b964f49"/>
    <p:sldId xmlns:r="http://schemas.openxmlformats.org/officeDocument/2006/relationships" id="259" r:id="R446244e9589146f4"/>
    <p:sldId xmlns:r="http://schemas.openxmlformats.org/officeDocument/2006/relationships" id="260" r:id="R9c7885cf26064a7b"/>
    <p:sldId xmlns:r="http://schemas.openxmlformats.org/officeDocument/2006/relationships" id="261" r:id="R0e6ed2079c79451c"/>
    <p:sldId xmlns:r="http://schemas.openxmlformats.org/officeDocument/2006/relationships" id="262" r:id="Rb188411e80b64649"/>
    <p:sldId xmlns:r="http://schemas.openxmlformats.org/officeDocument/2006/relationships" id="263" r:id="R3194e71409814398"/>
    <p:sldId xmlns:r="http://schemas.openxmlformats.org/officeDocument/2006/relationships" id="264" r:id="Rc1c18629316c4ab9"/>
    <p:sldId xmlns:r="http://schemas.openxmlformats.org/officeDocument/2006/relationships" id="265" r:id="R1c8b0933be7243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f938f77dd34a63" /><Relationship Type="http://schemas.openxmlformats.org/officeDocument/2006/relationships/slideMaster" Target="/ppt/slideMasters/slideMaster1.xml" Id="R6b19fdd9e3144432" /><Relationship Type="http://schemas.openxmlformats.org/officeDocument/2006/relationships/notesMaster" Target="/ppt/notesMasters/notesMaster1.xml" Id="R68551248280349ec" /><Relationship Type="http://schemas.openxmlformats.org/officeDocument/2006/relationships/presProps" Target="/ppt/presProps.xml" Id="R46995db04a03445e" /><Relationship Type="http://schemas.openxmlformats.org/officeDocument/2006/relationships/tableStyles" Target="/ppt/tableStyles.xml" Id="Rc335ea76d1a042b9" /><Relationship Type="http://schemas.openxmlformats.org/officeDocument/2006/relationships/slide" Target="/ppt/slides/slide1.xml" Id="R04d493c3b98d4d73" /><Relationship Type="http://schemas.openxmlformats.org/officeDocument/2006/relationships/slide" Target="/ppt/slides/slide2.xml" Id="Ra79f7e05dec94f80" /><Relationship Type="http://schemas.openxmlformats.org/officeDocument/2006/relationships/slide" Target="/ppt/slides/slide3.xml" Id="R429a5c500b964f49" /><Relationship Type="http://schemas.openxmlformats.org/officeDocument/2006/relationships/slide" Target="/ppt/slides/slide4.xml" Id="R446244e9589146f4" /><Relationship Type="http://schemas.openxmlformats.org/officeDocument/2006/relationships/slide" Target="/ppt/slides/slide5.xml" Id="R9c7885cf26064a7b" /><Relationship Type="http://schemas.openxmlformats.org/officeDocument/2006/relationships/slide" Target="/ppt/slides/slide6.xml" Id="R0e6ed2079c79451c" /><Relationship Type="http://schemas.openxmlformats.org/officeDocument/2006/relationships/slide" Target="/ppt/slides/slide7.xml" Id="Rb188411e80b64649" /><Relationship Type="http://schemas.openxmlformats.org/officeDocument/2006/relationships/slide" Target="/ppt/slides/slide8.xml" Id="R3194e71409814398" /><Relationship Type="http://schemas.openxmlformats.org/officeDocument/2006/relationships/slide" Target="/ppt/slides/slide9.xml" Id="Rc1c18629316c4ab9" /><Relationship Type="http://schemas.openxmlformats.org/officeDocument/2006/relationships/slide" Target="/ppt/slides/slide10.xml" Id="R1c8b0933be72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573427bdd247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7db4923b3c4cf1" /><Relationship Type="http://schemas.openxmlformats.org/officeDocument/2006/relationships/notesMaster" Target="/ppt/notesMasters/notesMaster1.xml" Id="Re2e0eebd0c844b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134aa7fc354688" /><Relationship Type="http://schemas.openxmlformats.org/officeDocument/2006/relationships/notesMaster" Target="/ppt/notesMasters/notesMaster1.xml" Id="R3c6e8213ebbf43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aff6cfa6f04a06" /><Relationship Type="http://schemas.openxmlformats.org/officeDocument/2006/relationships/notesMaster" Target="/ppt/notesMasters/notesMaster1.xml" Id="Ra587d15e65a442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013200cada45da" /><Relationship Type="http://schemas.openxmlformats.org/officeDocument/2006/relationships/notesMaster" Target="/ppt/notesMasters/notesMaster1.xml" Id="R78616089d05745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2254e2a87a495b" /><Relationship Type="http://schemas.openxmlformats.org/officeDocument/2006/relationships/notesMaster" Target="/ppt/notesMasters/notesMaster1.xml" Id="R22e393716f5540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61d3e118c440a6" /><Relationship Type="http://schemas.openxmlformats.org/officeDocument/2006/relationships/notesMaster" Target="/ppt/notesMasters/notesMaster1.xml" Id="Ra9d398e9096a41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64735e17e1499e" /><Relationship Type="http://schemas.openxmlformats.org/officeDocument/2006/relationships/notesMaster" Target="/ppt/notesMasters/notesMaster1.xml" Id="R902ce783d7ee4d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e3b15a5d6b4000" /><Relationship Type="http://schemas.openxmlformats.org/officeDocument/2006/relationships/notesMaster" Target="/ppt/notesMasters/notesMaster1.xml" Id="Rf723fd1627394a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f2a2e0c9084975" /><Relationship Type="http://schemas.openxmlformats.org/officeDocument/2006/relationships/notesMaster" Target="/ppt/notesMasters/notesMaster1.xml" Id="R2c1ec2a0be3d49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f40d6088784da1" /><Relationship Type="http://schemas.openxmlformats.org/officeDocument/2006/relationships/notesMaster" Target="/ppt/notesMasters/notesMaster1.xml" Id="R8c01ce41b0ed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source: deliverables/04_model_implementation/final_test/final_test_report.md.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deliverables/04_model_implementation/final_test/final_test_report.md.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deliverables/01_problem_framing/problem_framing.md.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data_understanding.md, final_test_report.md and bias_fairness_analysis.md.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deliverables/04_model_implementation/final_test/tables/final_test_capacity_metrics.csv.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final_test_report.md and tables/cost_sensitivity.csv. Base costs and recovery rates are explicit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bias_fairness_analysis.md and final_test_gender_metrics.csv.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bias_fairness_analysis.md, section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recommendation from final_test_report.md and bias_fairness_analysis.md.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recommendation source: deliverables/04_model_implementation/final_test/final_test_report.md.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77f038da348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ebf3388ac4db9" /><Relationship Type="http://schemas.openxmlformats.org/officeDocument/2006/relationships/slideLayout" Target="/ppt/slideLayouts/slideLayout1.xml" Id="Raab7143ea09d44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b7143ea09d44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2c47675694487" /><Relationship Type="http://schemas.openxmlformats.org/officeDocument/2006/relationships/notesSlide" Target="/ppt/notesSlides/notesSlide1.xml" Id="R9e6ea08c080244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85df1b78e4bc8" /><Relationship Type="http://schemas.openxmlformats.org/officeDocument/2006/relationships/notesSlide" Target="/ppt/notesSlides/notesSlide2.xml" Id="R96d6804d0ebb4f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e8977ac7a404d" /><Relationship Type="http://schemas.openxmlformats.org/officeDocument/2006/relationships/notesSlide" Target="/ppt/notesSlides/notesSlide3.xml" Id="R6e9a15f293c54f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a383a02d641d0" /><Relationship Type="http://schemas.openxmlformats.org/officeDocument/2006/relationships/notesSlide" Target="/ppt/notesSlides/notesSlide4.xml" Id="R970197fe736140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583c351b64e82" /><Relationship Type="http://schemas.openxmlformats.org/officeDocument/2006/relationships/chart" Target="/ppt/slides/charts/chart1.xml" Id="R7dcef18098f646d3" /><Relationship Type="http://schemas.openxmlformats.org/officeDocument/2006/relationships/notesSlide" Target="/ppt/notesSlides/notesSlide5.xml" Id="R6908014a29ab49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8efb2864044d7" /><Relationship Type="http://schemas.openxmlformats.org/officeDocument/2006/relationships/chart" Target="/ppt/slides/charts/chart2.xml" Id="Rbbf25e79ff9a4f0e" /><Relationship Type="http://schemas.openxmlformats.org/officeDocument/2006/relationships/notesSlide" Target="/ppt/notesSlides/notesSlide6.xml" Id="Rdbc43c2a9ae848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06d7e5a734d59" /><Relationship Type="http://schemas.openxmlformats.org/officeDocument/2006/relationships/chart" Target="/ppt/slides/charts/chart3.xml" Id="R45a59881f5544f71" /><Relationship Type="http://schemas.openxmlformats.org/officeDocument/2006/relationships/notesSlide" Target="/ppt/notesSlides/notesSlide7.xml" Id="R1d81259629b04a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77485e2f24354" /><Relationship Type="http://schemas.openxmlformats.org/officeDocument/2006/relationships/notesSlide" Target="/ppt/notesSlides/notesSlide8.xml" Id="R83c13c0341a5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a7eb112d24609" /><Relationship Type="http://schemas.openxmlformats.org/officeDocument/2006/relationships/notesSlide" Target="/ppt/notesSlides/notesSlide9.xml" Id="R73158a0c3f3b44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6e1b3986543b4" /><Relationship Type="http://schemas.openxmlformats.org/officeDocument/2006/relationships/notesSlide" Target="/ppt/notesSlides/notesSlide10.xml" Id="R664a8966cbfd440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Review yield</c:v>
          </c:tx>
          <c:spPr>
            <a:solidFill xmlns:a="http://schemas.openxmlformats.org/drawingml/2006/main">
              <a:srgbClr val="2F6B9A"/>
            </a:solidFill>
          </c:spPr>
          <c:cat>
            <c:strRef>
              <c:f>'Chart Data'!$A$2:$A$4</c:f>
              <c:strCache>
                <c:ptCount val="3"/>
                <c:pt idx="0">
                  <c:v>0.5%</c:v>
                </c:pt>
                <c:pt idx="1">
                  <c:v>1.0%</c:v>
                </c:pt>
                <c:pt idx="2">
                  <c:v>2.0%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0.6567</c:v>
                </c:pt>
                <c:pt idx="1">
                  <c:v>0.3571</c:v>
                </c:pt>
                <c:pt idx="2">
                  <c:v>0.1848</c:v>
                </c:pt>
              </c:numCache>
            </c:numRef>
          </c:val>
        </c:ser>
        <c:ser>
          <c:idx val="1"/>
          <c:order val="1"/>
          <c:tx>
            <c:v>Fraud captured</c:v>
          </c:tx>
          <c:spPr>
            <a:solidFill xmlns:a="http://schemas.openxmlformats.org/drawingml/2006/main">
              <a:srgbClr val="E76F51"/>
            </a:solidFill>
          </c:spPr>
          <c:cat>
            <c:strRef>
              <c:f>'Chart Data'!$C$2:$C$4</c:f>
              <c:strCache>
                <c:ptCount val="3"/>
                <c:pt idx="0">
                  <c:v>0.5%</c:v>
                </c:pt>
                <c:pt idx="1">
                  <c:v>1.0%</c:v>
                </c:pt>
                <c:pt idx="2">
                  <c:v>2.0%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0.8508</c:v>
                </c:pt>
                <c:pt idx="1">
                  <c:v>0.9254</c:v>
                </c:pt>
                <c:pt idx="2">
                  <c:v>0.9576</c:v>
                </c:pt>
              </c:numCache>
            </c:numRef>
          </c:val>
        </c:ser>
        <c:ser>
          <c:idx val="2"/>
          <c:order val="2"/>
          <c:tx>
            <c:v>Fraud value captured</c:v>
          </c:tx>
          <c:spPr>
            <a:solidFill xmlns:a="http://schemas.openxmlformats.org/drawingml/2006/main">
              <a:srgbClr val="2A9D8F"/>
            </a:solidFill>
          </c:spPr>
          <c:cat>
            <c:strRef>
              <c:f>'Chart Data'!$E$2:$E$4</c:f>
              <c:strCache>
                <c:ptCount val="3"/>
                <c:pt idx="0">
                  <c:v>0.5%</c:v>
                </c:pt>
                <c:pt idx="1">
                  <c:v>1.0%</c:v>
                </c:pt>
                <c:pt idx="2">
                  <c:v>2.0%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0.9578</c:v>
                </c:pt>
                <c:pt idx="1">
                  <c:v>0.9861</c:v>
                </c:pt>
                <c:pt idx="2">
                  <c:v>0.9927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Share of transactions reviewed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82A3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Net benefit</c:v>
          </c:tx>
          <c:spPr>
            <a:ln xmlns:a="http://schemas.openxmlformats.org/drawingml/2006/main" w="38100">
              <a:solidFill>
                <a:srgbClr val="2A9D8F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A9D8F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50%</c:v>
                </c:pt>
                <c:pt idx="1">
                  <c:v>70%</c:v>
                </c:pt>
                <c:pt idx="2">
                  <c:v>90%</c:v>
                </c:pt>
              </c:strCache>
            </c:strRef>
          </c:cat>
          <c:val>
            <c:numRef>
              <c:f>'Chart Data'!$B$2:$B$4</c:f>
              <c:numCache>
                <c:formatCode>$0,"K"</c:formatCode>
                <c:ptCount val="3"/>
                <c:pt idx="0">
                  <c:v>495282</c:v>
                </c:pt>
                <c:pt idx="1">
                  <c:v>718803</c:v>
                </c:pt>
                <c:pt idx="2">
                  <c:v>942323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82A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Fraud value recovery assumption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A"/>
              </a:solidFill>
            </a:ln>
          </c:spPr>
        </c:majorGridlines>
        <c:numFmt formatCode="$0,&quot;K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</c:v>
          </c:tx>
          <c:spPr>
            <a:solidFill xmlns:a="http://schemas.openxmlformats.org/drawingml/2006/main">
              <a:srgbClr val="E9C46A"/>
            </a:solidFill>
          </c:spPr>
          <c:cat>
            <c:strRef>
              <c:f>'Chart Data'!$A$2:$A$3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0.8731</c:v>
                </c:pt>
                <c:pt idx="1">
                  <c:v>0.9596</c:v>
                </c:pt>
              </c:numCache>
            </c:numRef>
          </c:val>
        </c:ser>
        <c:ser>
          <c:idx val="1"/>
          <c:order val="1"/>
          <c:tx>
            <c:v>Final test</c:v>
          </c:tx>
          <c:spPr>
            <a:solidFill xmlns:a="http://schemas.openxmlformats.org/drawingml/2006/main">
              <a:srgbClr val="E76F51"/>
            </a:solidFill>
          </c:spPr>
          <c:cat>
            <c:strRef>
              <c:f>'Chart Data'!$C$2:$C$3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0.8926</c:v>
                </c:pt>
                <c:pt idx="1">
                  <c:v>0.9643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82A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2A3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92D7E-D386-4BB3-B56D-CE4BFA1D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89ADC-46FB-4A32-8918-E142C70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Smarter Credit Card</a:t>
            </a:r>
          </a:p>
          <a:p xmlns:a="http://schemas.openxmlformats.org/drawingml/2006/main">
            <a:pPr algn="l">
              <a:defRPr sz="3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Fraud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03D98-2BD2-4381-B954-B614E542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A controlled path to better fraud capture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CD12E-0550-4999-A775-129C755E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Ryan Rey Corpin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41B55-38F2-4341-8059-0A442BA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Executive presentation ·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962E5-759C-49D3-9D65-2AE2FF55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52CB5-4986-42DF-9334-D9E9E5D6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Shadow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1B7AF-2982-4DDF-87C7-8AC8669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098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recommended before any customer-facing automation</a:t>
            </a:r>
          </a:p>
        </p:txBody>
      </p:sp>
    </p:spTree>
    <p:extLst>
      <p:ext uri="{BB962C8B-B14F-4D97-AF65-F5344CB8AC3E}">
        <p14:creationId xmlns:p14="http://schemas.microsoft.com/office/powerpoint/2010/main" val="425217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EC041-5F6E-4CDC-9085-904C875C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Executive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483F9-C06E-4472-896F-AEAE3339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BC3B2-8DEB-4F98-B277-3AA11B4C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Proceed to a governed shadow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BC9FF-E452-47E4-8E03-A4FF50E3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Under an assumed 1% analyst capacity, the model provides strong fraud capture. Synthetic data and confirmed fairness gaps prevent customer-facing automation today.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57579-3869-4219-B731-22F64B5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92.54%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30DEC-659F-4655-A5BA-B17D2B3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fraud cases found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7BC15-FCD6-417D-B4E3-1C386FFE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98.61%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81DAF-90E4-476D-AA16-F57EA57C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fraud value captured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1D61C-54FD-4DB5-9A5D-AFE61A9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35.71%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80E6F-D179-461A-85DE-E1991B3E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9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review yield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E2720-010D-4D03-839A-5EB95033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Decision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5031B-7509-4E82-988A-72ADD2D3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619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6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No automated declines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6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No production ROI claim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6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No group-specific thresholds without legal and governance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2A747-FA7E-44A2-8CD7-589402F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2A45B-3324-4552-95AA-471CB6B9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Recommendation based on one-time final test and responsible-AI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7789B-9B29-4391-8669-0A879C5D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3243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4FAEF-3826-4CCD-817C-7BED79E0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The operating trade-off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E9D96-D29E-47E7-910C-BACE121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A8A53-8F8A-4BE3-A427-C45F64B4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rPr>
              <a:t>Missed fraud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B6A55-A07A-4317-AB54-D96DB2AF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Direct loss, chargebacks and customer trust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E0C5C-D85A-490B-A077-39280826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Limited review capacity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F4B47-1FC1-47B5-BC1C-7FA8C034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A risk-ranked queue focuses analysts on the transactions most likely to be fraudulent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2A2F6-04B3-443F-BAAD-24E5351B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71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Customer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C597D-668A-427E-9902-B5702EFD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Legitimate customers may face delay, review or 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C1B49-555D-4E8A-9964-C3B356E7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2C595-B87C-43E6-9C6E-40B80BFB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Decision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AA0F4-B659-46EA-A851-91E2759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Capture most fraud and fraud value within a fixed workload while controlling false positives and unequal protection.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E28F0-303F-4804-B52B-2DB1FC99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67623-00D9-4BF8-89BB-0A56AC0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The model ranks transactions; policy determines the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F52D7-08D9-42A0-89C7-77A371FB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52883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C1D82-4C67-4853-A079-FB55740E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Evidence and confidence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AF7DF-AB9C-4697-B3C3-E082BA61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0CE3A-511D-4800-83E5-9531FC1A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1.85M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F4667-3BCE-4587-BBF0-4872C45D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synthetic transactions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E6962-F740-4A1F-A75E-DB7856C2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28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2 years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8F2A1-708A-48DD-A540-AE9EE7A0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chronological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FE745-67FF-42CF-AB8C-3AF586E8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9,651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D746C-C754-4025-814D-7626AD9D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00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labelled fraud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3CE9B-A748-4F04-9DD8-DD44A8E0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rPr>
              <a:t>555,719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806CB-A7B0-4FF4-980A-509FB709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later test transactions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FBACC-C814-4798-9FB6-B04EFF06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What strengthens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C3B87-7C92-416E-8728-FCFB6344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Future-period test isolated from feature and model selection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Strict-past transaction history prevents future leakage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Multiple baselines and nonlinear candidates compared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Final test performed once after choices were frozen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FA9CF-F053-43DC-BE5B-57C1F72F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What limits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C6E3A-4F96-4D98-9D17-D126B28B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Synthetic behavior may not match a real institution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Fraud prevalence changes over time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Scores require calibration before probability use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Race and socioeconomic fairness remain unmeasured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D0C73-050D-438D-8743-885D3113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B4A3F-6953-450E-9CD7-C43CB870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Benchmark evidence supports testing, not production authorization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F36A4-E62A-4A16-BE59-FA5B1CA4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166645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2A2AA-D002-46B7-B551-00AB7D29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Final test impact at alternative review capacities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F72DB-EAF8-4F51-AFDE-BC36661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14375" y="14287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ef18098f646d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A5255-A193-4B16-99BE-62AF52F3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Assumed 1% analyst capacity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41F71-7AAF-487F-93FA-D0BCD19F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5,558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F366B-C141-4DF6-99FC-BA4B1837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transactions reviewed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873C6-5973-414A-9051-1577F054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1,985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00C73-7A39-4A45-991D-E1402F4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fraud cases found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47925-F875-4271-9C8C-88AB74CD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F6B9A"/>
                </a:solidFill>
                <a:latin typeface="Helvetica Neue"/>
                <a:ea typeface="Helvetica Neue"/>
                <a:cs typeface="Helvetica Neue"/>
              </a:rPr>
              <a:t>3,573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99BFD-D32D-4A7D-8B11-CBE67E52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legitimate reviews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0D5C8-F66D-486E-88FD-7E3867BA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29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35.7% yield is 92.5% of the 38.6% prevalence-implied ceiling.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C0C9D-5D4D-490C-A9BF-59A02EAE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BF4FE-7B68-457B-A4E0-D2EC4BF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Cost sensitivity favours a smaller queue; test results did not retune the frozen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6AF90-A7CE-4308-8720-51AB609B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6833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28831-6A70-4360-8DBA-E461677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Illustrative financial 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2BED0-810E-4BC1-B254-0DF534F2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6858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f25e79ff9a4f0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7A0E2-4B6C-4EB0-8087-E2DB0D9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$719K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B97BA-FA96-438C-94E4-F683683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base net benefit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DBA1A-A051-4F93-9491-BABE687F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12.32×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C3A18-4D22-49B0-BD00-35380802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base benefit-cost ratio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3D1A9-E20D-4198-BB0B-0E8ED4E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$414K–$977K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DDD80-D139-4BFB-BD55-640CE95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net benefit across 27 tested assumptions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AA0F8-E1C8-4E6F-BA87-368D2BFD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Base assumptions: 70% recovery, $5 review cost and $10 false-positive friction cost.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F3C4D-EBB7-438E-97B9-6FFBFB02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007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Cost model: 0.5% = $736K vs 1% = $719K; 0.5% leads 24 of 27 scenarios. Descriptive test analysis only.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C7604-36BA-4335-9D8B-26977BFB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B90B2-15F8-47F1-9D99-CE700808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Synthetic test-period scenario · not a production ROI 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B8ADE-15E7-4A73-840F-3DBF6D3E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97033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624CB-028A-4175-AF65-E7084838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Customer protection is not yet equitable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D3ECD-350E-4BD2-AA7A-747B8FFE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a59881f5544f7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F7CE5-6732-4E54-886E-0CD1082B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763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Final test finding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75B7C-0D72-44B2-8447-6E4596CF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7.17 percentage-point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53A97-AFAD-49DF-AD8F-863B2A7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Female-cardholder fraud receives less protection while also experiencing a higher false-positive 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42208-B0F3-4AB2-9241-D0CF39D8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95750"/>
            <a:ext cx="352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On test, group cutoffs reduced the TPR gap to 1.08 pp but worsened demographic parity and precision gaps. Do not deploy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5DCAF-5FBC-4A40-82C8-3F5D999C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9B880-496C-4D7A-ADDD-F9FC3192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Fairness gap persists across validation and final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08521-DFD7-41A7-984A-A2C8C4E8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25032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0FBB0-E51F-4F99-9D93-6D52935B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Controls required before customer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C3D4D-8746-4480-9285-E5DA5877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8A0EB-1B90-4E45-A836-573B73AB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Decision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8F518-B884-43A9-94E9-B4ED0EFD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Human review in early phases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Proportionate challenge before decline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Customer appeal and correction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F64B4-E753-45F0-A32D-E8499309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9D8F"/>
                </a:solidFill>
                <a:latin typeface="Helvetica Neue"/>
                <a:ea typeface="Helvetica Neue"/>
                <a:cs typeface="Helvetica Neue"/>
              </a:rPr>
              <a:t>Model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58CE8-9048-4F8C-99FB-97F324B1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76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Calibration on later real data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Drift and capacity monitoring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Subgroup protection and burden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86A1A-A195-4F45-BB56-7A4B1275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0FCFE-EF1F-4823-83D1-F36E980A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Model-risk and compliance approval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Privacy, access and retention controls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Documented overrides, incidents and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523FC-B299-46AF-8754-8E804201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94C4C"/>
                </a:solidFill>
                <a:latin typeface="Helvetica Neue"/>
                <a:ea typeface="Helvetica Neue"/>
                <a:cs typeface="Helvetica Neue"/>
              </a:rPr>
              <a:t>Stop 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87D60-B034-4FFB-87A9-1EDB9060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Material decline in fraud capture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Fairness gap exceeds an approved limit</a:t>
            </a:r>
          </a:p>
          <a:p xmlns:a="http://schemas.openxmlformats.org/drawingml/2006/main">
            <a:pPr marL="241300" indent="-114300">
              <a:spcAft>
                <a:spcPts val="1000"/>
              </a:spcAft>
              <a:buChar char="•"/>
              <a:def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Review workload or customer harm exceeds capacity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1D20F-1364-4FD5-A5C2-17594C6C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DEED8-E007-456D-9987-063C3330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Governance turns model scores into accountable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E6EB2-1401-47DC-B016-4732F68E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81893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BD4E3-4C4D-4ADB-8DB0-EE9E590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Phased pilot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3AEE0-B92C-42BC-B846-747AA6F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A0490-453F-4C00-8566-CC50D402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E0A52-9861-4363-9488-5815804C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Offline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B87E2-4F18-449F-9FD9-4BFBA437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Validate on real historical data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Confirm labels and costs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A2A9B-071A-4CFC-8989-2DCB9858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8772F-CD16-4C5D-8C91-A196FA4E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9976F-BE84-4E51-93CB-4B2B87F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Shadow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C62E2-FB3F-43D7-BBC6-746E695D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Score live traffic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No customer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55A05-CDE4-4459-96E3-D4E97D0E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1FEB8-7352-48A7-9604-F70CAD83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55DEE-1A9C-42F6-B33B-8BE43CA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Review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832-7635-4B50-A0F1-1B1243F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Limited analyst queue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Measure recovery and burden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46CE5-8360-40C5-9007-D1A6E82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7165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9C14C-A2D7-4FA6-8F14-E7EACED9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76375"/>
            <a:ext cx="619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C6BBA-1BD2-4547-8B50-5D46D5B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Controlled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DB428-0B7D-479C-81C4-D0872B5D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Expand only after gates pass</a:t>
            </a:r>
          </a:p>
          <a:p xmlns:a="http://schemas.openxmlformats.org/drawingml/2006/main">
            <a:pPr algn="l">
              <a:def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A3A"/>
                </a:solidFill>
                <a:latin typeface="Helvetica Neue"/>
                <a:ea typeface="Helvetica Neue"/>
                <a:cs typeface="Helvetica Neue"/>
              </a:rPr>
              <a:t>Maintain rollback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1F4C3-AF7E-44A4-A11D-F1DB6814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Gate measures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C2878-4252-4F3E-9069-97020D3E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Fraud and value recall · review yield and workload · calibration · subgroup gaps · drift · incidents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5ED0C-8334-479E-B610-A563368E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CC9EF-328A-4C06-8AA0-0F4F6AC0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Each phase requires evidence and explicit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24575-951A-4237-8F62-3E2BB760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4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353847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5B000-3EB8-4191-9A77-EBA57633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CFF56-ED90-4D10-93B9-B29ED913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 requested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4372B-46B8-492F-96D2-5D432870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Approve a time-boxed shadow pilot with no automated declines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C84D8-1EC9-49D4-9800-3C0270D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9C46A"/>
                </a:solidFill>
                <a:latin typeface="Helvetica Neue"/>
                <a:ea typeface="Helvetica Neue"/>
                <a:cs typeface="Helvetica Neue"/>
              </a:rPr>
              <a:t>Conditions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B05B9-1274-491B-BE90-B7A5FCF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6667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real transaction data and institution-specific costs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 and investigate subgroup protection gaps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Calibrate scores before probability or cost decisions</a:t>
            </a:r>
          </a:p>
          <a:p xmlns:a="http://schemas.openxmlformats.org/drawingml/2006/main">
            <a:pPr marL="241300" indent="-114300">
              <a:spcAft>
                <a:spcPts val="1100"/>
              </a:spcAft>
              <a:buChar char="•"/>
              <a:def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Define workload, performance, fairness and rollback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357C5-ECB4-48A0-BD58-6F45F8B0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No-go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FA6CD-EE0A-4C21-B4D3-48BDEE6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95750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 not deploy customer-facing automation if real-data performance, fairness or operating economics fail the agreed gates.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A1413-FD1A-43BB-90C7-DAD8DC23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B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9CBDA"/>
                </a:solidFill>
                <a:latin typeface="Helvetica Neue"/>
                <a:ea typeface="Helvetica Neue"/>
                <a:cs typeface="Helvetica Neue"/>
              </a:rPr>
              <a:t>Ryan Rey Corpin · Postgraduate Diploma in AI and 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BC23B-FAAB-403F-8E99-AAB4BC0F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9CB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9CBD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6255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2026-10-06T12:21:07.8630000Z</dcterms:created>
  <dcterms:modified xsi:type="dcterms:W3CDTF">2026-10-06T12:21:07.8630000Z</dcterms:modified>
</coreProperties>
</file>